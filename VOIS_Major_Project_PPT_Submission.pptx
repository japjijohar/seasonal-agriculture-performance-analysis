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japjijohar/Seasonal-Agriculture-Performance-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476241" y="4064350"/>
            <a:ext cx="3400089" cy="861497"/>
          </a:xfrm>
        </p:spPr>
        <p:txBody>
          <a:bodyPr vert="horz" lIns="91440" tIns="45720" rIns="91440" bIns="45720" rtlCol="0" anchor="t">
            <a:noAutofit/>
          </a:bodyPr>
          <a:lstStyle/>
          <a:p>
            <a:r>
              <a:rPr lang="en-US" b="0" dirty="0">
                <a:solidFill>
                  <a:schemeClr val="tx1"/>
                </a:solidFill>
              </a:rPr>
              <a:t>[</a:t>
            </a:r>
            <a:r>
              <a:rPr lang="en-US" b="0" dirty="0">
                <a:solidFill>
                  <a:schemeClr val="tx1"/>
                </a:solidFill>
                <a:latin typeface="Times New Roman" panose="02020603050405020304" pitchFamily="18" charset="0"/>
                <a:cs typeface="Times New Roman" panose="02020603050405020304" pitchFamily="18" charset="0"/>
              </a:rPr>
              <a:t>Japji Johar</a:t>
            </a:r>
          </a:p>
          <a:p>
            <a:r>
              <a:rPr lang="en-US" b="0" dirty="0">
                <a:solidFill>
                  <a:schemeClr val="tx1"/>
                </a:solidFill>
                <a:latin typeface="Times New Roman" panose="02020603050405020304" pitchFamily="18" charset="0"/>
                <a:cs typeface="Times New Roman" panose="02020603050405020304" pitchFamily="18" charset="0"/>
              </a:rPr>
              <a:t>Graphic era deemed university, Dehradun</a:t>
            </a:r>
            <a:r>
              <a:rPr lang="en-US" b="0" dirty="0">
                <a:solidFill>
                  <a:schemeClr val="tx1"/>
                </a:solidFill>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73041" y="2217851"/>
            <a:ext cx="4998720" cy="743448"/>
          </a:xfrm>
        </p:spPr>
        <p:txBody>
          <a:bodyPr>
            <a:noAutofit/>
          </a:bodyPr>
          <a:lstStyle/>
          <a:p>
            <a:r>
              <a:rPr lang="en-GB" sz="3600" b="1" u="sng" dirty="0">
                <a:latin typeface="Times New Roman" panose="02020603050405020304" pitchFamily="18" charset="0"/>
                <a:cs typeface="Times New Roman" panose="02020603050405020304" pitchFamily="18" charset="0"/>
              </a:rPr>
              <a:t>Project Title -</a:t>
            </a:r>
            <a:r>
              <a:rPr lang="en-IN" sz="3600" b="1" u="sng" dirty="0">
                <a:latin typeface="Times New Roman" panose="02020603050405020304" pitchFamily="18" charset="0"/>
                <a:cs typeface="Times New Roman" panose="02020603050405020304" pitchFamily="18"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476241" y="5334699"/>
            <a:ext cx="3308441"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IN" dirty="0">
                <a:latin typeface="Times New Roman" panose="02020603050405020304" pitchFamily="18" charset="0"/>
                <a:cs typeface="Times New Roman" panose="02020603050405020304" pitchFamily="18" charset="0"/>
              </a:rPr>
              <a:t>STU6a2e538b7bb701781420939</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817360" cy="4118844"/>
          </a:xfrm>
        </p:spPr>
        <p:txBody>
          <a:bodyPr vert="horz" lIns="91440" tIns="45720" rIns="91440" bIns="45720" rtlCol="0" anchor="t">
            <a:noAutofit/>
          </a:bodyPr>
          <a:lstStyle/>
          <a:p>
            <a:pPr>
              <a:lnSpc>
                <a:spcPct val="100000"/>
              </a:lnSpc>
            </a:pPr>
            <a:r>
              <a:rPr lang="en-IN" sz="22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u="sng" dirty="0">
                <a:latin typeface="Times New Roman" panose="02020603050405020304" pitchFamily="18" charset="0"/>
                <a:cs typeface="Times New Roman" panose="02020603050405020304" pitchFamily="18" charset="0"/>
              </a:rPr>
              <a:t>PROBLEM  STATEMENT</a:t>
            </a:r>
            <a:endParaRPr lang="en-IN"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58173"/>
            <a:ext cx="6276109" cy="830997"/>
          </a:xfrm>
        </p:spPr>
        <p:txBody>
          <a:bodyPr>
            <a:normAutofit fontScale="90000"/>
          </a:bodyPr>
          <a:lstStyle/>
          <a:p>
            <a:r>
              <a:rPr lang="en-GB" u="sng" dirty="0">
                <a:latin typeface="Times New Roman" panose="02020603050405020304" pitchFamily="18" charset="0"/>
                <a:cs typeface="Times New Roman" panose="02020603050405020304" pitchFamily="18" charset="0"/>
              </a:rPr>
              <a:t>Project Description</a:t>
            </a:r>
            <a:br>
              <a:rPr lang="en-GB" u="sng" dirty="0">
                <a:latin typeface="Times New Roman" panose="02020603050405020304" pitchFamily="18" charset="0"/>
                <a:cs typeface="Times New Roman" panose="02020603050405020304" pitchFamily="18" charset="0"/>
              </a:rPr>
            </a:br>
            <a:br>
              <a:rPr lang="en-GB" dirty="0"/>
            </a:br>
            <a:r>
              <a:rPr lang="en-IN" sz="2000" b="0" dirty="0">
                <a:latin typeface="Times New Roman" panose="02020603050405020304" pitchFamily="18" charset="0"/>
                <a:cs typeface="Times New Roman" panose="02020603050405020304" pitchFamily="18" charset="0"/>
              </a:rPr>
              <a:t>Seasonal Agriculture Performance Data Analytics is a data analysis project focused on understanding agricultural performance across different crops and seasons. The project analyses 4,000 farm records with 28 variables, including rainfall, temperature, soil conditions, fertilizer usage, irrigation methods, crop yield, production, revenue, profit, water usage, and disease/pest risk. The data is cleaned and explored using Python, Pandas, NumPy, Matplotlib, and Seaborn. Various techniques such as descriptive statistics, univariate analysis, bivariate analysis, correlation analysis, seasonal analysis, and outlier detection are used to identify patterns and relationships affecting agricultural performance. The project aims to generate meaningful data-driven insights that can help in better crop selection, resource management, productivity improvement, and agricultural decision-making.</a:t>
            </a:r>
            <a:br>
              <a:rPr lang="en-GB" b="0" dirty="0">
                <a:latin typeface="Times New Roman" panose="02020603050405020304" pitchFamily="18" charset="0"/>
                <a:cs typeface="Times New Roman" panose="02020603050405020304" pitchFamily="18" charset="0"/>
              </a:rPr>
            </a:br>
            <a:endParaRPr lang="en-IN"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20000"/>
          </a:bodyPr>
          <a:lstStyle/>
          <a:p>
            <a:pPr lvl="0"/>
            <a:r>
              <a:rPr lang="en-IN" sz="2600" b="1" dirty="0">
                <a:latin typeface="Times New Roman" panose="02020603050405020304" pitchFamily="18" charset="0"/>
                <a:cs typeface="Times New Roman" panose="02020603050405020304" pitchFamily="18" charset="0"/>
              </a:rPr>
              <a:t>Farmers</a:t>
            </a:r>
            <a:r>
              <a:rPr lang="en-IN" sz="2600" dirty="0">
                <a:latin typeface="Times New Roman" panose="02020603050405020304" pitchFamily="18" charset="0"/>
                <a:cs typeface="Times New Roman" panose="02020603050405020304" pitchFamily="18" charset="0"/>
              </a:rPr>
              <a:t> – to make better decisions about crop selection, irrigation, fertilizers, and seasonal planning. </a:t>
            </a:r>
          </a:p>
          <a:p>
            <a:pPr lvl="0"/>
            <a:r>
              <a:rPr lang="en-IN" sz="2600" b="1" dirty="0">
                <a:latin typeface="Times New Roman" panose="02020603050405020304" pitchFamily="18" charset="0"/>
                <a:cs typeface="Times New Roman" panose="02020603050405020304" pitchFamily="18" charset="0"/>
              </a:rPr>
              <a:t>Agricultural Departments &amp; Government Agencies</a:t>
            </a:r>
            <a:r>
              <a:rPr lang="en-IN" sz="2600" dirty="0">
                <a:latin typeface="Times New Roman" panose="02020603050405020304" pitchFamily="18" charset="0"/>
                <a:cs typeface="Times New Roman" panose="02020603050405020304" pitchFamily="18" charset="0"/>
              </a:rPr>
              <a:t> – to understand agricultural trends and support policy planning. </a:t>
            </a:r>
          </a:p>
          <a:p>
            <a:pPr lvl="0"/>
            <a:r>
              <a:rPr lang="en-IN" sz="2600" b="1" dirty="0">
                <a:latin typeface="Times New Roman" panose="02020603050405020304" pitchFamily="18" charset="0"/>
                <a:cs typeface="Times New Roman" panose="02020603050405020304" pitchFamily="18" charset="0"/>
              </a:rPr>
              <a:t>Agricultural Researchers</a:t>
            </a:r>
            <a:r>
              <a:rPr lang="en-IN" sz="2600" dirty="0">
                <a:latin typeface="Times New Roman" panose="02020603050405020304" pitchFamily="18" charset="0"/>
                <a:cs typeface="Times New Roman" panose="02020603050405020304" pitchFamily="18" charset="0"/>
              </a:rPr>
              <a:t> – to study factors affecting crop yield and productivity. </a:t>
            </a:r>
          </a:p>
          <a:p>
            <a:pPr lvl="0"/>
            <a:r>
              <a:rPr lang="en-IN" sz="2600" b="1" dirty="0">
                <a:latin typeface="Times New Roman" panose="02020603050405020304" pitchFamily="18" charset="0"/>
                <a:cs typeface="Times New Roman" panose="02020603050405020304" pitchFamily="18" charset="0"/>
              </a:rPr>
              <a:t>Agribusinesses &amp; Cooperatives</a:t>
            </a:r>
            <a:r>
              <a:rPr lang="en-IN" sz="2600" dirty="0">
                <a:latin typeface="Times New Roman" panose="02020603050405020304" pitchFamily="18" charset="0"/>
                <a:cs typeface="Times New Roman" panose="02020603050405020304" pitchFamily="18" charset="0"/>
              </a:rPr>
              <a:t> – to improve resource management and crop profitability. </a:t>
            </a:r>
          </a:p>
          <a:p>
            <a:pPr lvl="0"/>
            <a:r>
              <a:rPr lang="en-IN" sz="2600" b="1" dirty="0">
                <a:latin typeface="Times New Roman" panose="02020603050405020304" pitchFamily="18" charset="0"/>
                <a:cs typeface="Times New Roman" panose="02020603050405020304" pitchFamily="18" charset="0"/>
              </a:rPr>
              <a:t>Agricultural Consultants</a:t>
            </a:r>
            <a:r>
              <a:rPr lang="en-IN" sz="2600" dirty="0">
                <a:latin typeface="Times New Roman" panose="02020603050405020304" pitchFamily="18" charset="0"/>
                <a:cs typeface="Times New Roman" panose="02020603050405020304" pitchFamily="18" charset="0"/>
              </a:rPr>
              <a:t> – to provide data-driven recommendations to farmers. </a:t>
            </a:r>
          </a:p>
          <a:p>
            <a:pPr lvl="0"/>
            <a:r>
              <a:rPr lang="en-IN" sz="2600" b="1" dirty="0">
                <a:latin typeface="Times New Roman" panose="02020603050405020304" pitchFamily="18" charset="0"/>
                <a:cs typeface="Times New Roman" panose="02020603050405020304" pitchFamily="18" charset="0"/>
              </a:rPr>
              <a:t>Students &amp; Data Analysts</a:t>
            </a:r>
            <a:r>
              <a:rPr lang="en-IN" sz="2600" dirty="0">
                <a:latin typeface="Times New Roman" panose="02020603050405020304" pitchFamily="18" charset="0"/>
                <a:cs typeface="Times New Roman" panose="02020603050405020304" pitchFamily="18" charset="0"/>
              </a:rPr>
              <a:t> – for studying agricultural trends and developing analytical models.</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u="sng" dirty="0">
                <a:latin typeface="Times New Roman" panose="02020603050405020304" pitchFamily="18" charset="0"/>
                <a:cs typeface="Times New Roman" panose="02020603050405020304" pitchFamily="18" charset="0"/>
              </a:rPr>
              <a:t>WHO ARE THE END USERS?</a:t>
            </a:r>
            <a:endParaRPr lang="en-IN" sz="2000"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0" indent="0">
              <a:buNone/>
            </a:pPr>
            <a:r>
              <a:rPr lang="en-IN" b="1" dirty="0">
                <a:latin typeface="Times New Roman" panose="02020603050405020304" pitchFamily="18" charset="0"/>
                <a:cs typeface="Times New Roman" panose="02020603050405020304" pitchFamily="18" charset="0"/>
              </a:rPr>
              <a:t>Tools &amp; Technologies</a:t>
            </a:r>
          </a:p>
          <a:p>
            <a:pPr lvl="0"/>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 Programming Language </a:t>
            </a:r>
          </a:p>
          <a:p>
            <a:pPr lvl="0"/>
            <a:r>
              <a:rPr lang="en-IN" b="1" dirty="0">
                <a:latin typeface="Times New Roman" panose="02020603050405020304" pitchFamily="18" charset="0"/>
                <a:cs typeface="Times New Roman" panose="02020603050405020304" pitchFamily="18" charset="0"/>
              </a:rPr>
              <a:t>Jupyter Notebook</a:t>
            </a:r>
            <a:r>
              <a:rPr lang="en-IN" dirty="0">
                <a:latin typeface="Times New Roman" panose="02020603050405020304" pitchFamily="18" charset="0"/>
                <a:cs typeface="Times New Roman" panose="02020603050405020304" pitchFamily="18" charset="0"/>
              </a:rPr>
              <a:t> — Development Environment </a:t>
            </a:r>
          </a:p>
          <a:p>
            <a:pPr lvl="0"/>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manipulation and analysis </a:t>
            </a:r>
          </a:p>
          <a:p>
            <a:pPr lvl="0"/>
            <a:r>
              <a:rPr lang="en-IN" b="1" dirty="0">
                <a:latin typeface="Times New Roman" panose="02020603050405020304" pitchFamily="18" charset="0"/>
                <a:cs typeface="Times New Roman" panose="02020603050405020304" pitchFamily="18" charset="0"/>
              </a:rPr>
              <a:t>              NumPy</a:t>
            </a:r>
            <a:r>
              <a:rPr lang="en-IN" dirty="0">
                <a:latin typeface="Times New Roman" panose="02020603050405020304" pitchFamily="18" charset="0"/>
                <a:cs typeface="Times New Roman" panose="02020603050405020304" pitchFamily="18" charset="0"/>
              </a:rPr>
              <a:t> — Numerical calculations </a:t>
            </a:r>
          </a:p>
          <a:p>
            <a:pPr lvl="0"/>
            <a:r>
              <a:rPr lang="en-IN" b="1" dirty="0">
                <a:latin typeface="Times New Roman" panose="02020603050405020304" pitchFamily="18" charset="0"/>
                <a:cs typeface="Times New Roman" panose="02020603050405020304" pitchFamily="18" charset="0"/>
              </a:rPr>
              <a:t>              Matplotlib</a:t>
            </a:r>
            <a:r>
              <a:rPr lang="en-IN" dirty="0">
                <a:latin typeface="Times New Roman" panose="02020603050405020304" pitchFamily="18" charset="0"/>
                <a:cs typeface="Times New Roman" panose="02020603050405020304" pitchFamily="18" charset="0"/>
              </a:rPr>
              <a:t> — Data visualization </a:t>
            </a:r>
          </a:p>
          <a:p>
            <a:pPr lvl="0"/>
            <a:r>
              <a:rPr lang="en-IN" b="1" dirty="0">
                <a:latin typeface="Times New Roman" panose="02020603050405020304" pitchFamily="18" charset="0"/>
                <a:cs typeface="Times New Roman" panose="02020603050405020304" pitchFamily="18" charset="0"/>
              </a:rPr>
              <a:t>              Seaborn</a:t>
            </a:r>
            <a:r>
              <a:rPr lang="en-IN" dirty="0">
                <a:latin typeface="Times New Roman" panose="02020603050405020304" pitchFamily="18" charset="0"/>
                <a:cs typeface="Times New Roman" panose="02020603050405020304" pitchFamily="18" charset="0"/>
              </a:rPr>
              <a:t> — Statistical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u="sng"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3600" u="sng" dirty="0">
                <a:latin typeface="Times New Roman" panose="02020603050405020304" pitchFamily="18" charset="0"/>
                <a:cs typeface="Times New Roman" panose="02020603050405020304" pitchFamily="18" charset="0"/>
              </a:rPr>
              <a:t>RESULTS: </a:t>
            </a:r>
            <a:endParaRPr lang="en-IN" sz="36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159D80A-4941-4A43-FE29-396CA6D0D29E}"/>
              </a:ext>
            </a:extLst>
          </p:cNvPr>
          <p:cNvSpPr txBox="1"/>
          <p:nvPr/>
        </p:nvSpPr>
        <p:spPr>
          <a:xfrm>
            <a:off x="604837" y="1051851"/>
            <a:ext cx="8371840"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Crop &amp; Season Performance</a:t>
            </a:r>
          </a:p>
          <a:p>
            <a:pPr lvl="0"/>
            <a:r>
              <a:rPr lang="en-IN" dirty="0">
                <a:latin typeface="Times New Roman" panose="02020603050405020304" pitchFamily="18" charset="0"/>
                <a:cs typeface="Times New Roman" panose="02020603050405020304" pitchFamily="18" charset="0"/>
              </a:rPr>
              <a:t>The analysis compared crop performance across different agricultural seasons. </a:t>
            </a:r>
          </a:p>
          <a:p>
            <a:pPr lvl="0"/>
            <a:r>
              <a:rPr lang="en-IN" dirty="0">
                <a:latin typeface="Times New Roman" panose="02020603050405020304" pitchFamily="18" charset="0"/>
                <a:cs typeface="Times New Roman" panose="02020603050405020304" pitchFamily="18" charset="0"/>
              </a:rPr>
              <a:t>Average yield was calculated for each season. </a:t>
            </a:r>
          </a:p>
          <a:p>
            <a:pPr lvl="0"/>
            <a:r>
              <a:rPr lang="en-IN" dirty="0">
                <a:latin typeface="Times New Roman" panose="02020603050405020304" pitchFamily="18" charset="0"/>
                <a:cs typeface="Times New Roman" panose="02020603050405020304" pitchFamily="18" charset="0"/>
              </a:rPr>
              <a:t>Different crops showed variations in their average yield. </a:t>
            </a:r>
          </a:p>
          <a:p>
            <a:pPr lvl="0"/>
            <a:r>
              <a:rPr lang="en-IN" dirty="0">
                <a:latin typeface="Times New Roman" panose="02020603050405020304" pitchFamily="18" charset="0"/>
                <a:cs typeface="Times New Roman" panose="02020603050405020304" pitchFamily="18" charset="0"/>
              </a:rPr>
              <a:t>The best-performing crop and season were identified based on average yield. </a:t>
            </a:r>
          </a:p>
          <a:p>
            <a:pPr lvl="0"/>
            <a:r>
              <a:rPr lang="en-IN" dirty="0">
                <a:latin typeface="Times New Roman" panose="02020603050405020304" pitchFamily="18" charset="0"/>
                <a:cs typeface="Times New Roman" panose="02020603050405020304" pitchFamily="18" charset="0"/>
              </a:rPr>
              <a:t>This analysis helps understand seasonal and crop-wise productivity.</a:t>
            </a:r>
          </a:p>
          <a:p>
            <a:endParaRPr lang="en-IN" dirty="0"/>
          </a:p>
        </p:txBody>
      </p:sp>
      <p:pic>
        <p:nvPicPr>
          <p:cNvPr id="9" name="Picture 8">
            <a:extLst>
              <a:ext uri="{FF2B5EF4-FFF2-40B4-BE49-F238E27FC236}">
                <a16:creationId xmlns:a16="http://schemas.microsoft.com/office/drawing/2014/main" id="{CC4438BD-392E-A077-3EB7-EC3983AE0FA5}"/>
              </a:ext>
            </a:extLst>
          </p:cNvPr>
          <p:cNvPicPr>
            <a:picLocks noChangeAspect="1"/>
          </p:cNvPicPr>
          <p:nvPr/>
        </p:nvPicPr>
        <p:blipFill>
          <a:blip r:embed="rId3"/>
          <a:stretch>
            <a:fillRect/>
          </a:stretch>
        </p:blipFill>
        <p:spPr>
          <a:xfrm>
            <a:off x="501486" y="2879496"/>
            <a:ext cx="3330584" cy="2113198"/>
          </a:xfrm>
          <a:prstGeom prst="rect">
            <a:avLst/>
          </a:prstGeom>
        </p:spPr>
      </p:pic>
      <p:pic>
        <p:nvPicPr>
          <p:cNvPr id="12" name="Picture 11">
            <a:extLst>
              <a:ext uri="{FF2B5EF4-FFF2-40B4-BE49-F238E27FC236}">
                <a16:creationId xmlns:a16="http://schemas.microsoft.com/office/drawing/2014/main" id="{7DD8CE49-0DE7-02F8-6254-4BB6AFD0E403}"/>
              </a:ext>
            </a:extLst>
          </p:cNvPr>
          <p:cNvPicPr>
            <a:picLocks noChangeAspect="1"/>
          </p:cNvPicPr>
          <p:nvPr/>
        </p:nvPicPr>
        <p:blipFill>
          <a:blip r:embed="rId4"/>
          <a:stretch>
            <a:fillRect/>
          </a:stretch>
        </p:blipFill>
        <p:spPr>
          <a:xfrm>
            <a:off x="6609069" y="2824503"/>
            <a:ext cx="3211264" cy="2223183"/>
          </a:xfrm>
          <a:prstGeom prst="rect">
            <a:avLst/>
          </a:prstGeom>
        </p:spPr>
      </p:pic>
      <p:pic>
        <p:nvPicPr>
          <p:cNvPr id="15" name="Picture 14">
            <a:extLst>
              <a:ext uri="{FF2B5EF4-FFF2-40B4-BE49-F238E27FC236}">
                <a16:creationId xmlns:a16="http://schemas.microsoft.com/office/drawing/2014/main" id="{8622C293-518A-DD7D-3080-63210A921CCA}"/>
              </a:ext>
            </a:extLst>
          </p:cNvPr>
          <p:cNvPicPr>
            <a:picLocks noChangeAspect="1"/>
          </p:cNvPicPr>
          <p:nvPr/>
        </p:nvPicPr>
        <p:blipFill>
          <a:blip r:embed="rId5"/>
          <a:stretch>
            <a:fillRect/>
          </a:stretch>
        </p:blipFill>
        <p:spPr>
          <a:xfrm>
            <a:off x="3744835" y="4551763"/>
            <a:ext cx="3012430" cy="211319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3200" u="sng" dirty="0">
                <a:latin typeface="Times New Roman" panose="02020603050405020304" pitchFamily="18" charset="0"/>
                <a:cs typeface="Times New Roman" panose="02020603050405020304" pitchFamily="18" charset="0"/>
              </a:rPr>
              <a:t>RESULTS:</a:t>
            </a:r>
            <a:endParaRPr lang="en-IN" sz="32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 Placeholder 1">
            <a:extLst>
              <a:ext uri="{FF2B5EF4-FFF2-40B4-BE49-F238E27FC236}">
                <a16:creationId xmlns:a16="http://schemas.microsoft.com/office/drawing/2014/main" id="{3A64DB11-806F-1A4C-E0D5-D745D29CED50}"/>
              </a:ext>
            </a:extLst>
          </p:cNvPr>
          <p:cNvSpPr txBox="1">
            <a:spLocks noGrp="1"/>
          </p:cNvSpPr>
          <p:nvPr>
            <p:ph type="body" sz="quarter" idx="12"/>
          </p:nvPr>
        </p:nvSpPr>
        <p:spPr>
          <a:xfrm>
            <a:off x="675957" y="1151231"/>
            <a:ext cx="5211287" cy="3055453"/>
          </a:xfrm>
          <a:prstGeom prst="rect">
            <a:avLst/>
          </a:prstGeom>
        </p:spPr>
        <p:txBody>
          <a:bodyPr vert="horz" lIns="91440" tIns="45720" rIns="91440" bIns="45720" rtlCol="0">
            <a:normAutofit fontScale="47500" lnSpcReduction="2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sz="4000" b="1" dirty="0">
                <a:latin typeface="Times New Roman" panose="02020603050405020304" pitchFamily="18" charset="0"/>
                <a:cs typeface="Times New Roman" panose="02020603050405020304" pitchFamily="18" charset="0"/>
              </a:rPr>
              <a:t>Environmental Factors &amp; Yield</a:t>
            </a:r>
          </a:p>
          <a:p>
            <a:r>
              <a:rPr lang="en-IN" sz="4000" dirty="0">
                <a:latin typeface="Times New Roman" panose="02020603050405020304" pitchFamily="18" charset="0"/>
                <a:cs typeface="Times New Roman" panose="02020603050405020304" pitchFamily="18" charset="0"/>
              </a:rPr>
              <a:t>The relationship between rainfall and crop yield was analysed. </a:t>
            </a:r>
          </a:p>
          <a:p>
            <a:r>
              <a:rPr lang="en-IN" sz="4000" dirty="0">
                <a:latin typeface="Times New Roman" panose="02020603050405020304" pitchFamily="18" charset="0"/>
                <a:cs typeface="Times New Roman" panose="02020603050405020304" pitchFamily="18" charset="0"/>
              </a:rPr>
              <a:t>The relationship between temperature and crop yield was examined. </a:t>
            </a:r>
          </a:p>
          <a:p>
            <a:r>
              <a:rPr lang="en-IN" sz="4000" dirty="0">
                <a:latin typeface="Times New Roman" panose="02020603050405020304" pitchFamily="18" charset="0"/>
                <a:cs typeface="Times New Roman" panose="02020603050405020304" pitchFamily="18" charset="0"/>
              </a:rPr>
              <a:t>Water usage and yield were also compared. </a:t>
            </a:r>
          </a:p>
          <a:p>
            <a:r>
              <a:rPr lang="en-IN" sz="4000" dirty="0">
                <a:latin typeface="Times New Roman" panose="02020603050405020304" pitchFamily="18" charset="0"/>
                <a:cs typeface="Times New Roman" panose="02020603050405020304" pitchFamily="18" charset="0"/>
              </a:rPr>
              <a:t>Scatter plots were used to visualize these relationships. </a:t>
            </a:r>
          </a:p>
          <a:p>
            <a:r>
              <a:rPr lang="en-IN" sz="4000" dirty="0">
                <a:latin typeface="Times New Roman" panose="02020603050405020304" pitchFamily="18" charset="0"/>
                <a:cs typeface="Times New Roman" panose="02020603050405020304" pitchFamily="18" charset="0"/>
              </a:rPr>
              <a:t>These results help identify environmental factors associated with agricultural productivity.</a:t>
            </a:r>
          </a:p>
          <a:p>
            <a:pPr marL="0" indent="0">
              <a:buFont typeface="Wingdings" panose="05000000000000000000" pitchFamily="2" charset="2"/>
              <a:buNone/>
            </a:pPr>
            <a:endParaRPr lang="en-IN"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F7B83A6-C426-F568-DBAF-4536D4F69DF5}"/>
              </a:ext>
            </a:extLst>
          </p:cNvPr>
          <p:cNvPicPr>
            <a:picLocks noChangeAspect="1"/>
          </p:cNvPicPr>
          <p:nvPr/>
        </p:nvPicPr>
        <p:blipFill>
          <a:blip r:embed="rId3"/>
          <a:stretch>
            <a:fillRect/>
          </a:stretch>
        </p:blipFill>
        <p:spPr>
          <a:xfrm>
            <a:off x="6096000" y="1490682"/>
            <a:ext cx="3534356" cy="2376550"/>
          </a:xfrm>
          <a:prstGeom prst="rect">
            <a:avLst/>
          </a:prstGeom>
        </p:spPr>
      </p:pic>
      <p:pic>
        <p:nvPicPr>
          <p:cNvPr id="17" name="Picture 16">
            <a:extLst>
              <a:ext uri="{FF2B5EF4-FFF2-40B4-BE49-F238E27FC236}">
                <a16:creationId xmlns:a16="http://schemas.microsoft.com/office/drawing/2014/main" id="{C69E70CF-EFFA-FBEB-90FD-8D91E8B1B019}"/>
              </a:ext>
            </a:extLst>
          </p:cNvPr>
          <p:cNvPicPr>
            <a:picLocks noChangeAspect="1"/>
          </p:cNvPicPr>
          <p:nvPr/>
        </p:nvPicPr>
        <p:blipFill>
          <a:blip r:embed="rId4"/>
          <a:stretch>
            <a:fillRect/>
          </a:stretch>
        </p:blipFill>
        <p:spPr>
          <a:xfrm>
            <a:off x="847445" y="4280469"/>
            <a:ext cx="3498249" cy="2358518"/>
          </a:xfrm>
          <a:prstGeom prst="rect">
            <a:avLst/>
          </a:prstGeom>
        </p:spPr>
      </p:pic>
      <p:pic>
        <p:nvPicPr>
          <p:cNvPr id="20" name="Picture 19">
            <a:extLst>
              <a:ext uri="{FF2B5EF4-FFF2-40B4-BE49-F238E27FC236}">
                <a16:creationId xmlns:a16="http://schemas.microsoft.com/office/drawing/2014/main" id="{2F2EC28E-EF26-4245-E9A2-1D4672BDB9C6}"/>
              </a:ext>
            </a:extLst>
          </p:cNvPr>
          <p:cNvPicPr>
            <a:picLocks noChangeAspect="1"/>
          </p:cNvPicPr>
          <p:nvPr/>
        </p:nvPicPr>
        <p:blipFill>
          <a:blip r:embed="rId5"/>
          <a:stretch>
            <a:fillRect/>
          </a:stretch>
        </p:blipFill>
        <p:spPr>
          <a:xfrm>
            <a:off x="4932704" y="4206684"/>
            <a:ext cx="3641544" cy="243230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fade">
                                      <p:cBhvr>
                                        <p:cTn id="28" dur="1000"/>
                                        <p:tgtEl>
                                          <p:spTgt spid="11">
                                            <p:txEl>
                                              <p:pRg st="0" end="0"/>
                                            </p:txEl>
                                          </p:spTgt>
                                        </p:tgtEl>
                                      </p:cBhvr>
                                    </p:animEffect>
                                    <p:anim calcmode="lin" valueType="num">
                                      <p:cBhvr>
                                        <p:cTn id="29"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xEl>
                                              <p:pRg st="1" end="1"/>
                                            </p:txEl>
                                          </p:spTgt>
                                        </p:tgtEl>
                                        <p:attrNameLst>
                                          <p:attrName>style.visibility</p:attrName>
                                        </p:attrNameLst>
                                      </p:cBhvr>
                                      <p:to>
                                        <p:strVal val="visible"/>
                                      </p:to>
                                    </p:set>
                                    <p:animEffect transition="in" filter="fade">
                                      <p:cBhvr>
                                        <p:cTn id="35" dur="1000"/>
                                        <p:tgtEl>
                                          <p:spTgt spid="11">
                                            <p:txEl>
                                              <p:pRg st="1" end="1"/>
                                            </p:txEl>
                                          </p:spTgt>
                                        </p:tgtEl>
                                      </p:cBhvr>
                                    </p:animEffect>
                                    <p:anim calcmode="lin" valueType="num">
                                      <p:cBhvr>
                                        <p:cTn id="36"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xEl>
                                              <p:pRg st="2" end="2"/>
                                            </p:txEl>
                                          </p:spTgt>
                                        </p:tgtEl>
                                        <p:attrNameLst>
                                          <p:attrName>style.visibility</p:attrName>
                                        </p:attrNameLst>
                                      </p:cBhvr>
                                      <p:to>
                                        <p:strVal val="visible"/>
                                      </p:to>
                                    </p:set>
                                    <p:animEffect transition="in" filter="fade">
                                      <p:cBhvr>
                                        <p:cTn id="42" dur="1000"/>
                                        <p:tgtEl>
                                          <p:spTgt spid="11">
                                            <p:txEl>
                                              <p:pRg st="2" end="2"/>
                                            </p:txEl>
                                          </p:spTgt>
                                        </p:tgtEl>
                                      </p:cBhvr>
                                    </p:animEffect>
                                    <p:anim calcmode="lin" valueType="num">
                                      <p:cBhvr>
                                        <p:cTn id="4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xEl>
                                              <p:pRg st="3" end="3"/>
                                            </p:txEl>
                                          </p:spTgt>
                                        </p:tgtEl>
                                        <p:attrNameLst>
                                          <p:attrName>style.visibility</p:attrName>
                                        </p:attrNameLst>
                                      </p:cBhvr>
                                      <p:to>
                                        <p:strVal val="visible"/>
                                      </p:to>
                                    </p:set>
                                    <p:animEffect transition="in" filter="fade">
                                      <p:cBhvr>
                                        <p:cTn id="49" dur="1000"/>
                                        <p:tgtEl>
                                          <p:spTgt spid="11">
                                            <p:txEl>
                                              <p:pRg st="3" end="3"/>
                                            </p:txEl>
                                          </p:spTgt>
                                        </p:tgtEl>
                                      </p:cBhvr>
                                    </p:animEffect>
                                    <p:anim calcmode="lin" valueType="num">
                                      <p:cBhvr>
                                        <p:cTn id="5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xEl>
                                              <p:pRg st="4" end="4"/>
                                            </p:txEl>
                                          </p:spTgt>
                                        </p:tgtEl>
                                        <p:attrNameLst>
                                          <p:attrName>style.visibility</p:attrName>
                                        </p:attrNameLst>
                                      </p:cBhvr>
                                      <p:to>
                                        <p:strVal val="visible"/>
                                      </p:to>
                                    </p:set>
                                    <p:animEffect transition="in" filter="fade">
                                      <p:cBhvr>
                                        <p:cTn id="56" dur="1000"/>
                                        <p:tgtEl>
                                          <p:spTgt spid="11">
                                            <p:txEl>
                                              <p:pRg st="4" end="4"/>
                                            </p:txEl>
                                          </p:spTgt>
                                        </p:tgtEl>
                                      </p:cBhvr>
                                    </p:animEffect>
                                    <p:anim calcmode="lin" valueType="num">
                                      <p:cBhvr>
                                        <p:cTn id="57"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1">
                                            <p:txEl>
                                              <p:pRg st="5" end="5"/>
                                            </p:txEl>
                                          </p:spTgt>
                                        </p:tgtEl>
                                        <p:attrNameLst>
                                          <p:attrName>style.visibility</p:attrName>
                                        </p:attrNameLst>
                                      </p:cBhvr>
                                      <p:to>
                                        <p:strVal val="visible"/>
                                      </p:to>
                                    </p:set>
                                    <p:animEffect transition="in" filter="fade">
                                      <p:cBhvr>
                                        <p:cTn id="63" dur="1000"/>
                                        <p:tgtEl>
                                          <p:spTgt spid="11">
                                            <p:txEl>
                                              <p:pRg st="5" end="5"/>
                                            </p:txEl>
                                          </p:spTgt>
                                        </p:tgtEl>
                                      </p:cBhvr>
                                    </p:animEffect>
                                    <p:anim calcmode="lin" valueType="num">
                                      <p:cBhvr>
                                        <p:cTn id="64"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3200" u="sng" dirty="0">
                <a:latin typeface="Times New Roman" panose="02020603050405020304" pitchFamily="18" charset="0"/>
                <a:cs typeface="Times New Roman" panose="02020603050405020304" pitchFamily="18" charset="0"/>
              </a:rPr>
              <a:t>RESULTS</a:t>
            </a:r>
            <a:endParaRPr lang="en-IN" u="sng"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20394" y="1036610"/>
            <a:ext cx="5719446" cy="4144990"/>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Correlation Analysis</a:t>
            </a:r>
          </a:p>
          <a:p>
            <a:pPr lvl="0"/>
            <a:r>
              <a:rPr lang="en-IN" sz="1800" dirty="0">
                <a:latin typeface="Times New Roman" panose="02020603050405020304" pitchFamily="18" charset="0"/>
                <a:cs typeface="Times New Roman" panose="02020603050405020304" pitchFamily="18" charset="0"/>
              </a:rPr>
              <a:t>A correlation matrix was created for the numerical variables. </a:t>
            </a:r>
          </a:p>
          <a:p>
            <a:pPr lvl="0"/>
            <a:r>
              <a:rPr lang="en-IN" sz="1800" dirty="0">
                <a:latin typeface="Times New Roman" panose="02020603050405020304" pitchFamily="18" charset="0"/>
                <a:cs typeface="Times New Roman" panose="02020603050405020304" pitchFamily="18" charset="0"/>
              </a:rPr>
              <a:t>The correlation heatmap helped identify positive and negative relationships. </a:t>
            </a:r>
          </a:p>
          <a:p>
            <a:pPr lvl="0"/>
            <a:r>
              <a:rPr lang="en-IN" sz="1800" dirty="0">
                <a:latin typeface="Times New Roman" panose="02020603050405020304" pitchFamily="18" charset="0"/>
                <a:cs typeface="Times New Roman" panose="02020603050405020304" pitchFamily="18" charset="0"/>
              </a:rPr>
              <a:t>Important relationships between environmental factors, agricultural inputs, yield, production and profit were examined. </a:t>
            </a:r>
          </a:p>
          <a:p>
            <a:pPr lvl="0"/>
            <a:r>
              <a:rPr lang="en-IN" sz="1800" dirty="0">
                <a:latin typeface="Times New Roman" panose="02020603050405020304" pitchFamily="18" charset="0"/>
                <a:cs typeface="Times New Roman" panose="02020603050405020304" pitchFamily="18" charset="0"/>
              </a:rPr>
              <a:t>Stronger correlations can help identify variables that deserve further investigation. </a:t>
            </a:r>
          </a:p>
          <a:p>
            <a:pPr lvl="0"/>
            <a:r>
              <a:rPr lang="en-IN" sz="1800" dirty="0">
                <a:latin typeface="Times New Roman" panose="02020603050405020304" pitchFamily="18" charset="0"/>
                <a:cs typeface="Times New Roman" panose="02020603050405020304" pitchFamily="18" charset="0"/>
              </a:rPr>
              <a:t>Correlation was interpreted as association, not proof of causation.</a:t>
            </a:r>
          </a:p>
          <a:p>
            <a:pPr marL="0" indent="0">
              <a:buNone/>
            </a:pPr>
            <a:r>
              <a:rPr lang="en-US" sz="1800" dirty="0"/>
              <a:t> </a:t>
            </a:r>
            <a:endParaRPr lang="en-IN" sz="1800" dirty="0"/>
          </a:p>
        </p:txBody>
      </p:sp>
      <p:pic>
        <p:nvPicPr>
          <p:cNvPr id="6" name="Picture 5">
            <a:extLst>
              <a:ext uri="{FF2B5EF4-FFF2-40B4-BE49-F238E27FC236}">
                <a16:creationId xmlns:a16="http://schemas.microsoft.com/office/drawing/2014/main" id="{049FF168-850D-C078-51FF-EC2CEA13B3EE}"/>
              </a:ext>
            </a:extLst>
          </p:cNvPr>
          <p:cNvPicPr>
            <a:picLocks noChangeAspect="1"/>
          </p:cNvPicPr>
          <p:nvPr/>
        </p:nvPicPr>
        <p:blipFill>
          <a:blip r:embed="rId3"/>
          <a:stretch>
            <a:fillRect/>
          </a:stretch>
        </p:blipFill>
        <p:spPr>
          <a:xfrm>
            <a:off x="6467793" y="1185479"/>
            <a:ext cx="4464368" cy="384725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3200" u="sng" dirty="0">
                <a:latin typeface="Times New Roman" panose="02020603050405020304" pitchFamily="18" charset="0"/>
                <a:cs typeface="Times New Roman" panose="02020603050405020304" pitchFamily="18" charset="0"/>
              </a:rPr>
              <a:t>RESULTS </a:t>
            </a:r>
            <a:endParaRPr lang="en-IN" sz="32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055772"/>
            <a:ext cx="3716931" cy="4526857"/>
          </a:xfrm>
        </p:spPr>
        <p:txBody>
          <a:bodyPr>
            <a:normAutofit fontScale="92500" lnSpcReduction="10000"/>
          </a:bodyPr>
          <a:lstStyle/>
          <a:p>
            <a:pPr marL="0" indent="0">
              <a:buNone/>
            </a:pPr>
            <a:r>
              <a:rPr lang="en-IN" sz="2200" b="1" dirty="0">
                <a:latin typeface="Times New Roman" panose="02020603050405020304" pitchFamily="18" charset="0"/>
                <a:cs typeface="Times New Roman" panose="02020603050405020304" pitchFamily="18" charset="0"/>
              </a:rPr>
              <a:t>Outlier Analysis</a:t>
            </a:r>
          </a:p>
          <a:p>
            <a:pPr lvl="0"/>
            <a:r>
              <a:rPr lang="en-IN" sz="2200" dirty="0">
                <a:latin typeface="Times New Roman" panose="02020603050405020304" pitchFamily="18" charset="0"/>
                <a:cs typeface="Times New Roman" panose="02020603050405020304" pitchFamily="18" charset="0"/>
              </a:rPr>
              <a:t>Crop yield was analysed to identify unusual observations. </a:t>
            </a:r>
          </a:p>
          <a:p>
            <a:pPr lvl="0"/>
            <a:r>
              <a:rPr lang="en-IN" sz="2200" dirty="0">
                <a:latin typeface="Times New Roman" panose="02020603050405020304" pitchFamily="18" charset="0"/>
                <a:cs typeface="Times New Roman" panose="02020603050405020304" pitchFamily="18" charset="0"/>
              </a:rPr>
              <a:t>Box plots were used for visual identification of potential outliers. </a:t>
            </a:r>
          </a:p>
          <a:p>
            <a:pPr lvl="0"/>
            <a:r>
              <a:rPr lang="en-IN" sz="2200" dirty="0">
                <a:latin typeface="Times New Roman" panose="02020603050405020304" pitchFamily="18" charset="0"/>
                <a:cs typeface="Times New Roman" panose="02020603050405020304" pitchFamily="18" charset="0"/>
              </a:rPr>
              <a:t>Identified outliers were considered for further investigation rather than being automatically removed. </a:t>
            </a:r>
          </a:p>
          <a:p>
            <a:pPr lvl="0"/>
            <a:r>
              <a:rPr lang="en-IN" sz="2200" dirty="0">
                <a:latin typeface="Times New Roman" panose="02020603050405020304" pitchFamily="18" charset="0"/>
                <a:cs typeface="Times New Roman" panose="02020603050405020304" pitchFamily="18" charset="0"/>
              </a:rPr>
              <a:t>This analysis helps improve the reliability and understanding of the dataset.</a:t>
            </a:r>
          </a:p>
          <a:p>
            <a:pPr marL="0" indent="0">
              <a:buNone/>
            </a:pPr>
            <a:endParaRPr lang="en-IN" dirty="0"/>
          </a:p>
        </p:txBody>
      </p:sp>
      <p:pic>
        <p:nvPicPr>
          <p:cNvPr id="6" name="Picture 5">
            <a:extLst>
              <a:ext uri="{FF2B5EF4-FFF2-40B4-BE49-F238E27FC236}">
                <a16:creationId xmlns:a16="http://schemas.microsoft.com/office/drawing/2014/main" id="{48B0B516-A708-E414-2C34-7C475AFB8E86}"/>
              </a:ext>
            </a:extLst>
          </p:cNvPr>
          <p:cNvPicPr>
            <a:picLocks noChangeAspect="1"/>
          </p:cNvPicPr>
          <p:nvPr/>
        </p:nvPicPr>
        <p:blipFill>
          <a:blip r:embed="rId3"/>
          <a:stretch>
            <a:fillRect/>
          </a:stretch>
        </p:blipFill>
        <p:spPr>
          <a:xfrm>
            <a:off x="4636103" y="1464734"/>
            <a:ext cx="4958791" cy="370893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3200" u="sng"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2"/>
            <a:ext cx="7066836" cy="4501747"/>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Overall Findings</a:t>
            </a:r>
          </a:p>
          <a:p>
            <a:pPr lvl="0"/>
            <a:r>
              <a:rPr lang="en-IN" dirty="0">
                <a:latin typeface="Times New Roman" panose="02020603050405020304" pitchFamily="18" charset="0"/>
                <a:cs typeface="Times New Roman" panose="02020603050405020304" pitchFamily="18" charset="0"/>
              </a:rPr>
              <a:t>Agricultural performance varies across different crops and seasons. </a:t>
            </a:r>
          </a:p>
          <a:p>
            <a:pPr lvl="0"/>
            <a:r>
              <a:rPr lang="en-IN" dirty="0">
                <a:latin typeface="Times New Roman" panose="02020603050405020304" pitchFamily="18" charset="0"/>
                <a:cs typeface="Times New Roman" panose="02020603050405020304" pitchFamily="18" charset="0"/>
              </a:rPr>
              <a:t>Environmental conditions such as rainfall and temperature show relationships with crop yield. </a:t>
            </a:r>
          </a:p>
          <a:p>
            <a:pPr lvl="0"/>
            <a:r>
              <a:rPr lang="en-IN" dirty="0">
                <a:latin typeface="Times New Roman" panose="02020603050405020304" pitchFamily="18" charset="0"/>
                <a:cs typeface="Times New Roman" panose="02020603050405020304" pitchFamily="18" charset="0"/>
              </a:rPr>
              <a:t>Agricultural inputs and resource usage can be compared to understand their association with productivity. </a:t>
            </a:r>
          </a:p>
          <a:p>
            <a:pPr lvl="0"/>
            <a:r>
              <a:rPr lang="en-IN" dirty="0">
                <a:latin typeface="Times New Roman" panose="02020603050405020304" pitchFamily="18" charset="0"/>
                <a:cs typeface="Times New Roman" panose="02020603050405020304" pitchFamily="18" charset="0"/>
              </a:rPr>
              <a:t>Yield, production and profitability provide different perspectives on farm performance. </a:t>
            </a:r>
          </a:p>
          <a:p>
            <a:pPr lvl="0"/>
            <a:r>
              <a:rPr lang="en-IN" dirty="0">
                <a:latin typeface="Times New Roman" panose="02020603050405020304" pitchFamily="18" charset="0"/>
                <a:cs typeface="Times New Roman" panose="02020603050405020304" pitchFamily="18" charset="0"/>
              </a:rPr>
              <a:t>The analysis provides a foundation for data-driven crop planning, resource management and agricultural decision-making.</a:t>
            </a:r>
          </a:p>
          <a:p>
            <a:pPr marL="0" indent="0">
              <a:buNone/>
            </a:pP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u="sng"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E9799B4-11E0-F051-53EB-3A6CD84DE331}"/>
              </a:ext>
            </a:extLst>
          </p:cNvPr>
          <p:cNvSpPr txBox="1"/>
          <p:nvPr/>
        </p:nvSpPr>
        <p:spPr>
          <a:xfrm>
            <a:off x="675958" y="1275371"/>
            <a:ext cx="7851502" cy="4678204"/>
          </a:xfrm>
          <a:prstGeom prst="rect">
            <a:avLst/>
          </a:prstGeom>
          <a:noFill/>
        </p:spPr>
        <p:txBody>
          <a:bodyPr wrap="square" rtlCol="0">
            <a:spAutoFit/>
          </a:bodyPr>
          <a:lstStyle/>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Machine Learning model to predict crop yield based on environmental and agricultural factors.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Build a crop recommendation system that suggests suitable crops for different seasons and soil conditions.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real-time weather data to improve agricultural predictions.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dashboard or web application for farmers and agricultural departments.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Predict crop profitability using production costs, market prices, revenue and other factors.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Include disease and pest prediction to provide early warnings.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 water and fertilizer optimization for efficient resource management. </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Expand the dataset with more regions, crops and years to improve the reliability of the analysis.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960437" y="329949"/>
            <a:ext cx="4735798" cy="830997"/>
          </a:xfrm>
        </p:spPr>
        <p:txBody>
          <a:bodyPr>
            <a:normAutofit/>
          </a:bodyPr>
          <a:lstStyle/>
          <a:p>
            <a:r>
              <a:rPr lang="en-IN" sz="3200" u="sng"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1A87E7B-01C2-E688-A0A9-1117D9680E4B}"/>
              </a:ext>
            </a:extLst>
          </p:cNvPr>
          <p:cNvSpPr txBox="1"/>
          <p:nvPr/>
        </p:nvSpPr>
        <p:spPr>
          <a:xfrm>
            <a:off x="320982" y="1423744"/>
            <a:ext cx="7368273" cy="646331"/>
          </a:xfrm>
          <a:prstGeom prst="rect">
            <a:avLst/>
          </a:prstGeom>
          <a:noFill/>
        </p:spPr>
        <p:txBody>
          <a:bodyPr wrap="square" rtlCol="0">
            <a:spAutoFit/>
          </a:bodyPr>
          <a:lstStyle/>
          <a:p>
            <a:r>
              <a:rPr lang="en-IN" dirty="0"/>
              <a:t>https://github.com/japjijohar/Seasonal-Agriculture-Performance-Analysis/tree/main</a:t>
            </a:r>
          </a:p>
        </p:txBody>
      </p:sp>
      <p:sp>
        <p:nvSpPr>
          <p:cNvPr id="6" name="TextBox 5">
            <a:extLst>
              <a:ext uri="{FF2B5EF4-FFF2-40B4-BE49-F238E27FC236}">
                <a16:creationId xmlns:a16="http://schemas.microsoft.com/office/drawing/2014/main" id="{F500C330-02CD-7C1C-C408-F243479E531C}"/>
              </a:ext>
            </a:extLst>
          </p:cNvPr>
          <p:cNvSpPr txBox="1"/>
          <p:nvPr/>
        </p:nvSpPr>
        <p:spPr>
          <a:xfrm>
            <a:off x="436880" y="2148207"/>
            <a:ext cx="2085827" cy="369332"/>
          </a:xfrm>
          <a:prstGeom prst="rect">
            <a:avLst/>
          </a:prstGeom>
          <a:noFill/>
        </p:spPr>
        <p:txBody>
          <a:bodyPr wrap="none" rtlCol="0">
            <a:spAutoFit/>
          </a:bodyPr>
          <a:lstStyle/>
          <a:p>
            <a:r>
              <a:rPr lang="en-IN" dirty="0">
                <a:solidFill>
                  <a:srgbClr val="FF0000"/>
                </a:solidFill>
                <a:hlinkClick r:id="rId3">
                  <a:extLst>
                    <a:ext uri="{A12FA001-AC4F-418D-AE19-62706E023703}">
                      <ahyp:hlinkClr xmlns:ahyp="http://schemas.microsoft.com/office/drawing/2018/hyperlinkcolor" val="tx"/>
                    </a:ext>
                  </a:extLst>
                </a:hlinkClick>
              </a:rPr>
              <a:t>GitHub repository </a:t>
            </a:r>
            <a:endParaRPr lang="en-IN" dirty="0">
              <a:solidFill>
                <a:srgbClr val="FF000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Autofit/>
          </a:bodyPr>
          <a:lstStyle/>
          <a:p>
            <a:r>
              <a:rPr lang="en-IN" sz="3200" u="sng" dirty="0">
                <a:latin typeface="Times New Roman" panose="02020603050405020304" pitchFamily="18" charset="0"/>
                <a:cs typeface="Times New Roman" panose="02020603050405020304" pitchFamily="18" charset="0"/>
              </a:rPr>
              <a:t>VOIS Course completion certificate - </a:t>
            </a:r>
            <a:br>
              <a:rPr lang="en-IN" sz="3200" u="sng" dirty="0">
                <a:latin typeface="Times New Roman" panose="02020603050405020304" pitchFamily="18" charset="0"/>
                <a:cs typeface="Times New Roman" panose="02020603050405020304" pitchFamily="18" charset="0"/>
              </a:rPr>
            </a:br>
            <a:r>
              <a:rPr lang="en-IN" sz="3200" u="sng"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360A8DA-743D-5FB4-F1F3-FA2DC54B0D3D}"/>
              </a:ext>
            </a:extLst>
          </p:cNvPr>
          <p:cNvPicPr>
            <a:picLocks noChangeAspect="1"/>
          </p:cNvPicPr>
          <p:nvPr/>
        </p:nvPicPr>
        <p:blipFill>
          <a:blip r:embed="rId3"/>
          <a:stretch>
            <a:fillRect/>
          </a:stretch>
        </p:blipFill>
        <p:spPr>
          <a:xfrm>
            <a:off x="1026158" y="1479481"/>
            <a:ext cx="7030721" cy="499243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51920" y="2971892"/>
            <a:ext cx="11340000" cy="700114"/>
          </a:xfrm>
          <a:prstGeom prst="rect">
            <a:avLst/>
          </a:prstGeom>
        </p:spPr>
        <p:txBody>
          <a:bodyPr anchor="ctr">
            <a:noAutofit/>
          </a:bodyPr>
          <a:lstStyle/>
          <a:p>
            <a:pPr algn="ctr"/>
            <a:r>
              <a:rPr lang="en-US" sz="6000" b="1" dirty="0">
                <a:solidFill>
                  <a:schemeClr val="tx1"/>
                </a:solidFill>
                <a:latin typeface="Algerian" panose="04020705040A02060702" pitchFamily="82"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1452</TotalTime>
  <Words>810</Words>
  <Application>Microsoft Office PowerPoint</Application>
  <PresentationFormat>Widescreen</PresentationFormat>
  <Paragraphs>74</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Calibri</vt:lpstr>
      <vt:lpstr>Times New Roman</vt:lpstr>
      <vt:lpstr>Trebuchet MS</vt:lpstr>
      <vt:lpstr>Wingdings</vt:lpstr>
      <vt:lpstr>Wingdings 3</vt:lpstr>
      <vt:lpstr>Facet</vt:lpstr>
      <vt:lpstr>Project Title -Seasonal Agriculture Performance Analysis</vt:lpstr>
      <vt:lpstr>PROBLEM  STATEMENT</vt:lpstr>
      <vt:lpstr>Project Description  Seasonal Agriculture Performance Data Analytics is a data analysis project focused on understanding agricultural performance across different crops and seasons. The project analyses 4,000 farm records with 28 variables, including rainfall, temperature, soil conditions, fertilizer usage, irrigation methods, crop yield, production, revenue, profit, water usage, and disease/pest risk. The data is cleaned and explored using Python, Pandas, NumPy, Matplotlib, and Seaborn. Various techniques such as descriptive statistics, univariate analysis, bivariate analysis, correlation analysis, seasonal analysis, and outlier detection are used to identify patterns and relationships affecting agricultural performance. The project aims to generate meaningful data-driven insights that can help in better crop selection, resource management, productivity improvement, and agricultural decision-making. </vt:lpstr>
      <vt:lpstr>WHO ARE THE END USERS?</vt:lpstr>
      <vt:lpstr>Technology Used</vt:lpstr>
      <vt:lpstr>RESULTS: </vt:lpstr>
      <vt:lpstr>RESULTS:</vt:lpstr>
      <vt:lpstr>RESULTS</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Sahej Johar</cp:lastModifiedBy>
  <cp:revision>100</cp:revision>
  <dcterms:created xsi:type="dcterms:W3CDTF">2021-07-11T13:13:15Z</dcterms:created>
  <dcterms:modified xsi:type="dcterms:W3CDTF">2026-09-09T17:37:30Z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